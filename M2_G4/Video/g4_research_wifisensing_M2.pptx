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61" r:id="rId24"/>
  </p:sldIdLst>
  <p:sldSz cx="12192000" cy="6858000"/>
  <p:notesSz cx="6858000" cy="9144000"/>
  <p:embeddedFontLst>
    <p:embeddedFont>
      <p:font typeface="Helvetica Neue" panose="020B0604020202020204" charset="0"/>
      <p:regular r:id="rId26"/>
      <p:bold r:id="rId27"/>
      <p:italic r:id="rId28"/>
      <p:boldItalic r:id="rId29"/>
    </p:embeddedFont>
    <p:embeddedFont>
      <p:font typeface="Helvetica Neue Light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sz="2000" b="0" i="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l="31991" t="42025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sz="44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290625" y="230175"/>
            <a:ext cx="6782700" cy="201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Communications </a:t>
            </a:r>
            <a:endParaRPr sz="5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3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3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625" y="5125700"/>
            <a:ext cx="5632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90625" y="3990217"/>
            <a:ext cx="6269100" cy="24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Jenil Charadva - AU2440278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 Patel - AU2440269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Dhruv Jodhani - AU2440160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 Patel - AU2440258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Pratyusha Sharma - AU2440012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867100" y="5594675"/>
            <a:ext cx="31782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ECE 310 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Group-4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0319BE77-F923-7180-5CE1-54ACBFE5D4B6}"/>
              </a:ext>
            </a:extLst>
          </p:cNvPr>
          <p:cNvSpPr txBox="1"/>
          <p:nvPr/>
        </p:nvSpPr>
        <p:spPr>
          <a:xfrm>
            <a:off x="290625" y="2249424"/>
            <a:ext cx="10968687" cy="131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Wi-Fi CSI Gain and Phase Correction: Bandwidth and Synchronization Stress Test</a:t>
            </a:r>
            <a:endParaRPr sz="5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we changed the base paper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M1 plan: stress-test the BVP motion indicator of Widar 3.0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asked: is Widar 3.0 the right base paper?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Widar 3.0 is from 2019; its extraction code has known problems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tied to an industry research lab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base paper: </a:t>
            </a: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Ratnam et al., IEEE TWC 2024 (Samsung)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Widar 3.0 becomes the downstream check planned for M3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</a:t>
            </a:fld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reasons for choosing Ratnam et al.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3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2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· Peer reviewed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authors at Samsung Research America (Standards and Mobility Innovation Lab)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675" y="12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· Targets our errors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gain and timing/phase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675" y="37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· Complete models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models and algorithms; no code released, so we implement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675" y="37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· Fits the course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OFDM, synchronization, SNR, channel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grouped by how errors are handled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Error-robust metrics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(phase-only or amplitude-only, CSI ratio): throw away part of the CSI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or filter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(Hampel, Savitzky-Golay, wavelet, median): distort CSI; no error model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 estimate-and-remove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(sqrt of power, DBSCAN, line fit, 802.11az): not model-derived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Model-based (Ratnam et al.)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validated at 20 MHz only, one respiration task, two receivers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comparison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(Portner 2026 preprint): no wide bandwidth, no timing error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Above-signal fixes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(Widar 3.0 BVP/DFS, test-time adaptation): assume clean CSI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4</a:t>
            </a:fld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layers that rarely talk to each other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layer: </a:t>
            </a: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cleans raw CSI; tested at 20 MHz, simple settings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layer: </a:t>
            </a: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generalisation methods that assume clean input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802.11bf makes wider bandwidth and multiband sensing normal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Multiband work: access-point synchronization still unsolved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bottom layer’s assumptions need checking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5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gap: facts versus our hypothesis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6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250000"/>
            <a:ext cx="5560000" cy="44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20000" tIns="190000" rIns="220000" bIns="19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facts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at 20 MHz (64 or 256 subcarriers), small timing error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Ignoring power variation works best when the signal is very weak (γ above about 0.95)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802.11bf and multiband work point to wider bandwidth; access-point clock sync unresolved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675" y="1250000"/>
            <a:ext cx="5560000" cy="44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20000" tIns="190000" rIns="220000" bIns="19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gap and hypothesis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gap (our reading): 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controlled study of how corrections change with bandwidth and timing-error range, or of the effect on BVP/DFS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hypothesis (untested): </a:t>
            </a: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corrections differ at 80 or 160 MHz; old baselines break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formulation: the CSI model (Eq.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33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g[p]: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gain error (slow part plus AGC steps)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τ[p]: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error from imperfect symbol-start detection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ψ[p]: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phase error left after CFO compensation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channel h[p,k] = static b[k] + dynamic d[p,k]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γ: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 of channel power in the static part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7</a:t>
            </a:fld>
            <a:endParaRPr b="0"/>
          </a:p>
        </p:txBody>
      </p:sp>
      <p:sp>
        <p:nvSpPr>
          <p:cNvPr id="5" name="Rounded Rectangle 4"/>
          <p:cNvSpPr/>
          <p:nvPr/>
        </p:nvSpPr>
        <p:spPr>
          <a:xfrm>
            <a:off x="385675" y="4600000"/>
            <a:ext cx="11420000" cy="1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D1916"/>
            </a:solidFill>
          </a:ln>
        </p:spPr>
        <p:txBody>
          <a:bodyPr wrap="square" lIns="150000" tIns="120000" rIns="150000" bIns="1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h̃[p,k] = g[p] · h[p,k] · exp(−j2π f_k τ[p]) · exp(−jψ[p]),   f_k = k / T_s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Correction task (Eq. 3) and quality measure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33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 g, τ, ψ per frame from h̃ only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corrected CSI as close as possible to the true channel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Quality: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χ of the corrected dynamic part with the true d (Eq. 29)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SNR = χ / (1 − χ), </a:t>
            </a: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in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Paper’s SNR scale unstated (χ is a squared correlation there): compare ordering and trends only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8</a:t>
            </a:fld>
            <a:endParaRPr b="0"/>
          </a:p>
        </p:txBody>
      </p:sp>
      <p:sp>
        <p:nvSpPr>
          <p:cNvPr id="5" name="Rounded Rectangle 4"/>
          <p:cNvSpPr/>
          <p:nvPr/>
        </p:nvSpPr>
        <p:spPr>
          <a:xfrm>
            <a:off x="385675" y="4600000"/>
            <a:ext cx="11420000" cy="1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D1916"/>
            </a:solidFill>
          </a:ln>
        </p:spPr>
        <p:txBody>
          <a:bodyPr wrap="square" lIns="150000" tIns="120000" rIns="150000" bIns="1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ĥ[p,k] = h̃[p,k] · exp(j2π f_k τ̂[p]) · exp(jψ̂[p]) / ĝ[p]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questions RQ1 to RQ4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9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2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RQ1 · Reproduction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the model-based corrections of Ratnam et al. beat the baselines in our own implementation?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675" y="12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RQ2 · Bandwidth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quality change as subcarriers grow from 64 to 512 (20 to 160 MHz)?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675" y="37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RQ3 · Synchronization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it change when timing error grows far beyond the paper’s 100 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675" y="3750000"/>
            <a:ext cx="5560000" cy="22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RQ4 · Planned for M3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RQ2 and RQ3 carry over to real receiver data and to BVP/DFS after correction?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and the six methods implemented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10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200000"/>
            <a:ext cx="1950000" cy="9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D1916"/>
            </a:solidFill>
          </a:ln>
        </p:spPr>
        <p:txBody>
          <a:bodyPr wrap="square" lIns="80000" tIns="50000" rIns="80000" bIns="5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CSI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5675" y="1550000"/>
            <a:ext cx="277500" cy="260000"/>
          </a:xfrm>
          <a:prstGeom prst="rightArrow">
            <a:avLst/>
          </a:prstGeom>
          <a:solidFill>
            <a:srgbClr val="BC93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53175" y="1200000"/>
            <a:ext cx="1950000" cy="960000"/>
          </a:xfrm>
          <a:prstGeom prst="roundRect">
            <a:avLst>
              <a:gd name="adj" fmla="val 5000"/>
            </a:avLst>
          </a:prstGeom>
          <a:solidFill>
            <a:srgbClr val="7D1916"/>
          </a:solidFill>
          <a:ln w="12700">
            <a:solidFill>
              <a:srgbClr val="7D1916"/>
            </a:solidFill>
          </a:ln>
        </p:spPr>
        <p:txBody>
          <a:bodyPr wrap="square" lIns="80000" tIns="50000" rIns="80000" bIns="5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 correction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73175" y="1550000"/>
            <a:ext cx="277500" cy="260000"/>
          </a:xfrm>
          <a:prstGeom prst="rightArrow">
            <a:avLst/>
          </a:prstGeom>
          <a:solidFill>
            <a:srgbClr val="BC93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75" y="1200000"/>
            <a:ext cx="1950000" cy="960000"/>
          </a:xfrm>
          <a:prstGeom prst="roundRect">
            <a:avLst>
              <a:gd name="adj" fmla="val 5000"/>
            </a:avLst>
          </a:prstGeom>
          <a:solidFill>
            <a:srgbClr val="7D1916"/>
          </a:solidFill>
          <a:ln w="12700">
            <a:solidFill>
              <a:srgbClr val="7D1916"/>
            </a:solidFill>
          </a:ln>
        </p:spPr>
        <p:txBody>
          <a:bodyPr wrap="square" lIns="80000" tIns="50000" rIns="80000" bIns="5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correction (timing + CPE)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40675" y="1550000"/>
            <a:ext cx="277500" cy="260000"/>
          </a:xfrm>
          <a:prstGeom prst="rightArrow">
            <a:avLst/>
          </a:prstGeom>
          <a:solidFill>
            <a:srgbClr val="BC93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88175" y="1200000"/>
            <a:ext cx="1950000" cy="9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D1916"/>
            </a:solidFill>
          </a:ln>
        </p:spPr>
        <p:txBody>
          <a:bodyPr wrap="square" lIns="80000" tIns="50000" rIns="80000" bIns="5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Corrected CSI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8175" y="1550000"/>
            <a:ext cx="277500" cy="260000"/>
          </a:xfrm>
          <a:prstGeom prst="rightArrow">
            <a:avLst/>
          </a:prstGeom>
          <a:solidFill>
            <a:srgbClr val="BC93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55675" y="1200000"/>
            <a:ext cx="1950000" cy="9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D1916"/>
            </a:solidFill>
          </a:ln>
        </p:spPr>
        <p:txBody>
          <a:bodyPr wrap="square" lIns="80000" tIns="50000" rIns="80000" bIns="5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χ / SNR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675" y="2410000"/>
            <a:ext cx="5560000" cy="34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 methods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6: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by sqrt of mean power (Baseline)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1: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 on power increments, 0.1 Hz low-pass (Proposed, simple)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3: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estimate on a uniform AGC grid (Proposed, best in paper)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675" y="2410000"/>
            <a:ext cx="5560000" cy="34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00000" tIns="170000" rIns="200000" bIns="17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methods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21: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fit on unwrapped phase (Baseline)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22: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802.11az timing estimator (Baseline)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4 with Eq. 25: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least squares (Proposed, best trade-off in paper)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Simulator defaults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simulator (NumPy, SciPy, scikit-learn); defaults follow Sec. V-B of Ratnam et al.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T_s = 3.2 µs, frame interval 100 ms, 300 frames per trial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64, γ = 0.9, i.i.d. complex Gaussian dynamic part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channel: random six-tap exponential profile, 200 ns spread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Large-scale gain: Gaussian process, 0.2 dB std below 0.1 Hz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AGC gain {−0.5, 0, +0.5} dB, probabilities {0.2, 0.6, 0.2}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error uniform [0, 100 ns); CPE uniform [−π, π)</a:t>
            </a:r>
          </a:p>
          <a:p>
            <a:pPr marL="342900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random seed: every number can be regenerated exactly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11</a:t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 E1 to E5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12</a:t>
            </a:fld>
            <a:endParaRPr b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5675" y="1200000"/>
          <a:ext cx="11420000" cy="362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Exp.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Correction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What varies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Reproduction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γ varied; K = 64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E2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Reproduction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γ varied; K = 64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Stress test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timing error 100 ns to 3.2 µs; K = 64, γ = 0.9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E4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Stress test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= 64, 128, 256, 512 (20, 40, 80, 160 MHz); γ = 0.9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E5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Stress test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as in E4; γ = 0.9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5675" y="5050000"/>
            <a:ext cx="11420000" cy="8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step is judged with the other step made ideal; median of 100 trials (paper: 2000)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Simplifications and why they matter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channel: random six-tap profile (200 ns spread), not 802.11ax Model-C</a:t>
            </a:r>
          </a:p>
          <a:p>
            <a:pPr marL="342900" indent="-3429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the i.i.d. dynamic component (type i), not the Doppler-structured type (ii)</a:t>
            </a:r>
          </a:p>
          <a:p>
            <a:pPr marL="342900" indent="-3429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trials per point, not 2000; no significance tests</a:t>
            </a:r>
          </a:p>
          <a:p>
            <a:pPr marL="342900" indent="-3429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21 sign fixed by us; Eq. 16 garbled, so Algorithm 3 uses nearest-integer rounding</a:t>
            </a:r>
          </a:p>
          <a:p>
            <a:pPr marL="342900" indent="-3429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still to be checked against the published PDF</a:t>
            </a:r>
          </a:p>
          <a:p>
            <a:pPr marL="342900" indent="-3429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cyclic prefix or ISI: matters for E3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13</a:t>
            </a:fld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E1: phase methods versus 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5100000" cy="42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reproduced for γ ≥ 0.7: Algorithm 4 best, Eq. 21 second, Eq. 22 worst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γ = 0.5: 8.0 dB versus −8.8 (Eq. 21) and −8.3 dB (Eq. 22)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Margin not reproduced at γ = 0.9: 16.5 vs 15.2 dB (about 35%); paper: over 1000%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1" i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Likely cause (untested): </a:t>
            </a: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simplified channel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14</a:t>
            </a:fld>
            <a:endParaRPr b="0"/>
          </a:p>
        </p:txBody>
      </p:sp>
      <p:pic>
        <p:nvPicPr>
          <p:cNvPr id="5" name="Picture 4" descr="E1: median SNR of recovered dynamic CSI after phase correction versus gamma, K =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80000"/>
            <a:ext cx="6050000" cy="4033333"/>
          </a:xfrm>
          <a:prstGeom prst="rect">
            <a:avLst/>
          </a:prstGeom>
          <a:ln w="12700">
            <a:solidFill>
              <a:srgbClr val="D9D5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50000" y="5273000"/>
            <a:ext cx="605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from the M2 report: median SNR (dB), 100 trials; shaded band = interquartile range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E2: gain methods versus 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5100000" cy="42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reproduced: Eq. 6 beats Algorithm 3 at every γ from 0.8 up (γ = 0.9: 19.1 vs 16.5 dB)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3 ≈ no correction (16.3 dB); Algorithm 1 lower (14.6 dB)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correction falls from 20.1 to 7.2 dB as γ rises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 of the mismatch still unknown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15</a:t>
            </a:fld>
            <a:endParaRPr b="0"/>
          </a:p>
        </p:txBody>
      </p:sp>
      <p:pic>
        <p:nvPicPr>
          <p:cNvPr id="5" name="Picture 4" descr="E2: median SNR after gain correction versus gamma, K =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80000"/>
            <a:ext cx="6050000" cy="4033333"/>
          </a:xfrm>
          <a:prstGeom prst="rect">
            <a:avLst/>
          </a:prstGeom>
          <a:ln w="12700">
            <a:solidFill>
              <a:srgbClr val="D9D5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50000" y="5273000"/>
            <a:ext cx="605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from the M2 report: median SNR (dB), 100 trials; shaded band = interquartile range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E4: phase versus bandwidth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5100000" cy="42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improves: 16.5 to 20.9 dB from 20 to 160 MHz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21: 15.2 to 9.8 dB; Eq. 22: 3.2 to −7.7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to Eq. 21 grows from 1.3 to 11.1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baselines worsen: our guesses only, not isolated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16</a:t>
            </a:fld>
            <a:endParaRPr b="0"/>
          </a:p>
        </p:txBody>
      </p:sp>
      <p:pic>
        <p:nvPicPr>
          <p:cNvPr id="5" name="Picture 4" descr="E4: median SNR after phase correction versus number of subcarriers, 20 to 160 MHz, gamma = 0.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80000"/>
            <a:ext cx="6050000" cy="4033333"/>
          </a:xfrm>
          <a:prstGeom prst="rect">
            <a:avLst/>
          </a:prstGeom>
          <a:ln w="12700">
            <a:solidFill>
              <a:srgbClr val="D9D5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50000" y="5273000"/>
            <a:ext cx="605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from the M2 report: median SNR (dB), 100 trials; shaded band = interquartile range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E5: gain versus bandwidth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5100000" cy="42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6 improves with K: 19.1 to 23.2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3 flat at about 16.5 dB; Algorithm 1: 14.6 to 16.6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reproduced: we expected Algorithm 3 to gain with K; it may have a bug (open item)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17</a:t>
            </a:fld>
            <a:endParaRPr b="0"/>
          </a:p>
        </p:txBody>
      </p:sp>
      <p:pic>
        <p:nvPicPr>
          <p:cNvPr id="5" name="Picture 4" descr="E5: median SNR after gain correction versus number of subcarriers, gamma = 0.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80000"/>
            <a:ext cx="6050000" cy="4033333"/>
          </a:xfrm>
          <a:prstGeom prst="rect">
            <a:avLst/>
          </a:prstGeom>
          <a:ln w="12700">
            <a:solidFill>
              <a:srgbClr val="D9D5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50000" y="5273000"/>
            <a:ext cx="605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from the M2 report: median SNR (dB), 100 trials; shaded band = interquartile range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E3: timing-error range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5100000" cy="420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21 collapses near half a symbol: 11.1 dB (800 ns) to −9.7 dB (1.6 µs)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22 flat but low at 3.2 dB; Algorithm 4 flat at 16.5 dB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robustness claim: simulator has no cyclic prefix or ISI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18</a:t>
            </a:fld>
            <a:endParaRPr b="0"/>
          </a:p>
        </p:txBody>
      </p:sp>
      <p:pic>
        <p:nvPicPr>
          <p:cNvPr id="5" name="Picture 4" descr="E3: median SNR after phase correction versus maximum timing error, K = 64, gamma = 0.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80000"/>
            <a:ext cx="6050000" cy="4033333"/>
          </a:xfrm>
          <a:prstGeom prst="rect">
            <a:avLst/>
          </a:prstGeom>
          <a:ln w="12700">
            <a:solidFill>
              <a:srgbClr val="D9D5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50000" y="5273000"/>
            <a:ext cx="605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from the M2 report: median SNR (dB), 100 trials; shaded band = interquartile range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SOTA positioning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19</a:t>
            </a:fld>
            <a:endParaRPr b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5675" y="1180000"/>
          <a:ext cx="11420000" cy="458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Ratnam et al. 2024 (anchor)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Our M2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Our plan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7D1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gain and timing/phase error, single antenna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 problem, same model (Eq. 2)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Scale bandwidth and timing error; effect on BVP/DFS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Model-based ML and weighted least squares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1, 3, 4 and baselines implemented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Verify Algorithm 3; targeted fix only if needed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 trials (Model-C); respiration test, 75 episodes, 20 MHz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trials, simplified channel, no real data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trials, Model-C-like channel, real multi-device data [3]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Reproducibility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code or data published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and results in our repository, seeded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Same, plus real-data scripts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Beats baselines by 40% (gain), 200% or more (phase)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Phase: same order, smaller margin; gain: not reproduced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Explain or fix the gain discrepancy</a:t>
                      </a:r>
                    </a:p>
                  </a:txBody>
                  <a:tcPr marL="100000" marR="100000" marT="50000" marB="50000" anchor="ctr">
                    <a:lnL w="9525">
                      <a:solidFill>
                        <a:srgbClr val="D9D5CE"/>
                      </a:solidFill>
                    </a:lnL>
                    <a:lnR w="9525">
                      <a:solidFill>
                        <a:srgbClr val="D9D5CE"/>
                      </a:solidFill>
                    </a:lnR>
                    <a:lnT w="9525">
                      <a:solidFill>
                        <a:srgbClr val="D9D5CE"/>
                      </a:solidFill>
                    </a:lnT>
                    <a:lnB w="9525">
                      <a:solidFill>
                        <a:srgbClr val="D9D5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675" y="1150000"/>
            <a:ext cx="11420000" cy="4750000"/>
          </a:xfrm>
        </p:spPr>
        <p:txBody>
          <a:bodyPr wrap="square" anchor="t">
            <a:no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 simulator, simplified channel; no real CSI results yet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trials per point, not 2000; no test beyond the interquartile range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the i.i.d. dynamic component simulated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Eq. 16 and Eq. 21 not yet checked against the published PDF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E2 and E5 disagree with the paper; we distrust our Algorithm 3</a:t>
            </a:r>
          </a:p>
          <a:p>
            <a:pPr marL="342900" indent="-342900" algn="l">
              <a:lnSpc>
                <a:spcPct val="105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6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E3 has no ISI; single antenna only</a:t>
            </a:r>
          </a:p>
        </p:txBody>
      </p:sp>
      <p:sp>
        <p:nvSpPr>
          <p:cNvPr id="4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20</a:t>
            </a:fld>
            <a:endParaRPr b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for M3 and M4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21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250000"/>
            <a:ext cx="7000000" cy="44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20000" tIns="190000" rIns="220000" bIns="19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to M3 (1 Nov)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Eq. 16, Eq. 21, Algorithm 3 against the PDF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Retest Algorithm 3 at K = 256 and with a more realistic channel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Raise trials to 500 or more; add confidence intervals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baselines and our implementation on public multi-receiver CSI data (Portner et al.)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before BVP/DFS on Widar 3.0 data (RQ4)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5675" y="1250000"/>
            <a:ext cx="4120000" cy="44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20000" tIns="190000" rIns="220000" bIns="19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M3 to M4 (22 Nov)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Targeted fix if there is a clear wide-bandwidth failure</a:t>
            </a:r>
          </a:p>
          <a:p>
            <a:pPr marL="342900" indent="-34290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US" sz="20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report and clean repository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75" y="170000"/>
            <a:ext cx="11420000" cy="7800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Take-away</a:t>
            </a:r>
          </a:p>
        </p:txBody>
      </p:sp>
      <p:sp>
        <p:nvSpPr>
          <p:cNvPr id="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22</a:t>
            </a:fld>
            <a:endParaRPr b="0"/>
          </a:p>
        </p:txBody>
      </p:sp>
      <p:sp>
        <p:nvSpPr>
          <p:cNvPr id="4" name="Rounded Rectangle 3"/>
          <p:cNvSpPr/>
          <p:nvPr/>
        </p:nvSpPr>
        <p:spPr>
          <a:xfrm>
            <a:off x="385675" y="1450000"/>
            <a:ext cx="5560000" cy="3100000"/>
          </a:xfrm>
          <a:prstGeom prst="roundRect">
            <a:avLst>
              <a:gd name="adj" fmla="val 5000"/>
            </a:avLst>
          </a:prstGeom>
          <a:solidFill>
            <a:srgbClr val="7D1916"/>
          </a:solidFill>
          <a:ln>
            <a:noFill/>
          </a:ln>
        </p:spPr>
        <p:txBody>
          <a:bodyPr wrap="square" lIns="280000" tIns="250000" rIns="28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correction</a:t>
            </a:r>
          </a:p>
          <a:p>
            <a:pPr marL="0" indent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simulation, phase correction matters more at wide bandwidth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675" y="1450000"/>
            <a:ext cx="5560000" cy="31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E"/>
            </a:solidFill>
          </a:ln>
        </p:spPr>
        <p:txBody>
          <a:bodyPr wrap="square" lIns="280000" tIns="250000" rIns="28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 correction</a:t>
            </a:r>
          </a:p>
          <a:p>
            <a:pPr marL="0" indent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results remain open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838200" y="2453100"/>
            <a:ext cx="1051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10000">
                <a:solidFill>
                  <a:schemeClr val="dk2"/>
                </a:solidFill>
              </a:rPr>
              <a:t>    THANK YOU !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23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1990</Words>
  <Application>Microsoft Office PowerPoint</Application>
  <PresentationFormat>Widescreen</PresentationFormat>
  <Paragraphs>224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Times New Roman</vt:lpstr>
      <vt:lpstr>Calibri</vt:lpstr>
      <vt:lpstr>Helvetica Neue Light</vt:lpstr>
      <vt:lpstr>Arial</vt:lpstr>
      <vt:lpstr>Helvetica Neue</vt:lpstr>
      <vt:lpstr>Office Theme</vt:lpstr>
      <vt:lpstr>PowerPoint Presentation</vt:lpstr>
      <vt:lpstr>Why we changed the base paper</vt:lpstr>
      <vt:lpstr>Four reasons for choosing Ratnam et al.</vt:lpstr>
      <vt:lpstr>Literature grouped by how errors are handled</vt:lpstr>
      <vt:lpstr>Two layers that rarely talk to each other</vt:lpstr>
      <vt:lpstr>Technical gap: facts versus our hypothesis</vt:lpstr>
      <vt:lpstr>Problem formulation: the CSI model (Eq. 2)</vt:lpstr>
      <vt:lpstr>Correction task (Eq. 3) and quality measure</vt:lpstr>
      <vt:lpstr>Research questions RQ1 to RQ4</vt:lpstr>
      <vt:lpstr>Pipeline and the six methods implemented</vt:lpstr>
      <vt:lpstr>Simulator defaults</vt:lpstr>
      <vt:lpstr>Experiments E1 to E5</vt:lpstr>
      <vt:lpstr>Simplifications and why they matter</vt:lpstr>
      <vt:lpstr>E1: phase methods versus γ</vt:lpstr>
      <vt:lpstr>E2: gain methods versus γ</vt:lpstr>
      <vt:lpstr>E4: phase versus bandwidth</vt:lpstr>
      <vt:lpstr>E5: gain versus bandwidth</vt:lpstr>
      <vt:lpstr>E3: timing-error range</vt:lpstr>
      <vt:lpstr>SOTA positioning</vt:lpstr>
      <vt:lpstr>Limitations</vt:lpstr>
      <vt:lpstr>Plan for M3 and M4</vt:lpstr>
      <vt:lpstr>Take-away</vt:lpstr>
      <vt:lpstr>    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Dhruv</dc:creator>
  <cp:lastModifiedBy>Dhruv Jodhani</cp:lastModifiedBy>
  <cp:revision>2</cp:revision>
  <dcterms:modified xsi:type="dcterms:W3CDTF">2026-10-11T10:58:31Z</dcterms:modified>
</cp:coreProperties>
</file>